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82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Equity Injection</a:t>
            </a:r>
            <a:endParaRPr lang="en-US" sz="3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Banking Networks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3017520"/>
            <a:ext cx="4572000" cy="0"/>
          </a:xfrm>
          <a:prstGeom prst="line">
            <a:avLst/>
          </a:prstGeom>
          <a:noFill/>
          <a:ln w="254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on Financial Markets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Bayraktar, Guo, Tang, Zhang (2025)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"Systemic robustness: a mean-field particle system approach"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 — March 13,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2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Motivation &amp; Context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 Formulation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Objectives (U and V)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Dynamic Programming Principle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Curse of Dimensionality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Numerical Method: Regression-Based DP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Ridge Regression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Default Cascades (Case 2)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Numerical Results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Socialistic Policy &amp; Conclusions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Motivation &amp; Context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3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4F72"/>
                </a:solidFill>
              </a:rPr>
              <a:t>The 2008 Financial Crisis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C3E50"/>
                </a:solidFill>
              </a:rPr>
              <a:t>Banks are interconnected through interbank lending. When one fails,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C3E50"/>
                </a:solidFill>
              </a:rPr>
              <a:t>losses cascade through the system — systemic risk.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4F72"/>
                </a:solidFill>
              </a:rPr>
              <a:t>The Central Question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C3E50"/>
                </a:solidFill>
              </a:rPr>
              <a:t>A regulator has a limited bailout budget c &gt; 0.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C3E50"/>
                </a:solidFill>
              </a:rPr>
              <a:t>How should it be distributed across N banks over T periods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C3E50"/>
                </a:solidFill>
              </a:rPr>
              <a:t>to maximize the stability of the financial system?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4F72"/>
                </a:solidFill>
              </a:rPr>
              <a:t>Two Scenarios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E50"/>
                </a:solidFill>
              </a:rPr>
              <a:t>Case 1: Banks are independent (isolated failures)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</a:rPr>
              <a:t>Case 2: Banks are interconnected (default cascades)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Formulation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4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homogeneous banks, discrete time t = 0, 1, ..., 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dynamics: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3200400" cy="484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update: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560320"/>
            <a:ext cx="2743200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constraint: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645920"/>
            <a:ext cx="2560320" cy="9601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space: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17520"/>
            <a:ext cx="3200400" cy="512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Predictability: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566160"/>
            <a:ext cx="2926080" cy="4023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67580" y="366395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continuous (capitals) + discrete (alive/dead)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Objective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5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U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91640"/>
            <a:ext cx="2560320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number of banks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to time 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saving any bank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V</a:t>
            </a:r>
            <a:endParaRPr lang="en-US" sz="16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91640"/>
            <a:ext cx="256032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ALL banks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to time 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even one bank → zero reward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Dynamic Programming Principle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6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function: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4754880" cy="6217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equation: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77440"/>
            <a:ext cx="5669280" cy="5577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idea (Bellman’s principle of optimality):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429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Tower property:  </a:t>
            </a:r>
            <a:r>
              <a:rPr lang="en-US" sz="1200" i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℥ₜ[Payoff] = ℥ₜ[℥ₜ₊₁[Payoff]]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Decompose:  sup over (bₜ,...,bₜ) = sup(bₜ) sup(bₜ₊₁,...,bₜ)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Inner sup = Vₜ₊₁ by definition  ⇒  Bellman equation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0058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21792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conditions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417320"/>
            <a:ext cx="1828800" cy="640080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103120"/>
            <a:ext cx="18288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Exact Solution Is Impossible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7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solution requires Kⁿ × 2ⁿ states.</a:t>
            </a:r>
            <a:endParaRPr lang="en-US" sz="1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N=10, K=100:  ≈ 10²³ states  —  impossible!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Function Approximation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the value function with a linear combination of features: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46120"/>
            <a:ext cx="530352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0" y="292608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8F77"/>
                </a:solidFill>
              </a:rPr>
              <a:t>P parameters
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D6D7E"/>
                </a:solidFill>
              </a:rPr>
              <a:t>instead of
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</a:rPr>
              <a:t>Kⁿ states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Feature Functions (Basis Functions)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8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permutation symmetry: all banks are identical ⇒ use aggregate statistics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474720" cy="50292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65960"/>
            <a:ext cx="3474720" cy="50292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514600"/>
            <a:ext cx="3840480" cy="4572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63240"/>
            <a:ext cx="3657600" cy="38404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520440"/>
            <a:ext cx="3291840" cy="36576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977640"/>
            <a:ext cx="3474720" cy="36576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5303520" y="1371600"/>
            <a:ext cx="34747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7"/>
          <p:cNvSpPr/>
          <p:nvPr/>
        </p:nvSpPr>
        <p:spPr>
          <a:xfrm>
            <a:off x="5486400" y="146304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features?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(permutation invariant)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level, spread, extremes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(quadratic, interactions)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independent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Convex optimization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closed-form solution!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The Algorithm: Regression-Based DP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9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(Terminal):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θₜ at t=T via ridge regression on terminal payoffs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loop for t = T−1 down to 0: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 — Generate training states: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N_train paths to time t using rollout policy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2 — Compute targets (Monte Carlo):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state and action,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sample M shocks, estimate Q(a), take Y = max Q(a)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3 — Ridge regression: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θₜ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393192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097280"/>
            <a:ext cx="2286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Longstaff-Schwartz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(American option pricing)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Value Iteration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(approximate DP)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LSTD Learning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(reinforcement learning)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Ridge Regression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10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OLS?  Overfitting + ill-conditioning when P is large relative to N_train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objective: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3474720" cy="6766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834640"/>
            <a:ext cx="393192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implementation (numerical stability):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886200"/>
            <a:ext cx="3017520" cy="685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0" y="137160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852160" y="146304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
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Always invertible 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(ΦᵀΦ + λI is positive definite)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Shrinkage: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||θ_Ridge|| &lt; ||θ_OLS||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Bias-variance tradeoff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λ↑ ⇒ Bias↑, Variance↓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λ minimizes total MSE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Default Cascades (Case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11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bank i defaults, every survivor loses β/N: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572000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Algorithm: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56032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Update capitals with shocks + injections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newly defaulted banks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Count new defaults D. If D = 0 → STOP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Each survivor loses β·D/N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Go to step 2 (fixed-point iteration)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2194560"/>
            <a:ext cx="32004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2860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default can bring down
the entire system!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ANY default
prevents the cascade.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Socialistic policy is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important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Results: Policy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12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 banks, T=5, budget c=1.0, shocks ~ N(0,1), β=1.5 (Case 2)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88720"/>
            <a:ext cx="4389120" cy="260604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88720"/>
            <a:ext cx="4389120" cy="2606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" y="3840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Independent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0" y="3840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Cascades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≈ Inject Weakest &gt;&gt; Socialistic &gt;&gt; Inject Strongest &gt;&gt; Nothing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Survival Over Time &amp; Cascade Effect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13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05840"/>
            <a:ext cx="4572000" cy="27432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5840"/>
            <a:ext cx="4389120" cy="192024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834640"/>
            <a:ext cx="3657600" cy="182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32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0.97–0.99 at all interior time steps → excellent fit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Key Findings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</a:rPr>
              <a:t>14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C3C7"/>
                </a:solidFill>
              </a:rPr>
              <a:t>Optimal Equity Injection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Socialistic policy achieves ~96% of optimal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Inject weakest ≈ Optimal policy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Default cascades increase the value of intervention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Budget has diminishing marginal returns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Regression fit is excellent (R² &gt; 0.97)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2471A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Scale to larger N (10, 50, 100)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Test more feature functions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Cross-validation for λ selection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Compare objectives U vs V in depth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Explore mean-field limit (N → ∞)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838</Words>
  <Application>Microsoft Office PowerPoint</Application>
  <PresentationFormat>Affichage à l'écran (16:9)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Equity Injection - Progress Report</dc:title>
  <dc:subject>PptxGenJS Presentation</dc:subject>
  <dc:creator>Group</dc:creator>
  <cp:lastModifiedBy>Hamza OUZAHRA</cp:lastModifiedBy>
  <cp:revision>2</cp:revision>
  <dcterms:created xsi:type="dcterms:W3CDTF">2026-03-08T20:26:31Z</dcterms:created>
  <dcterms:modified xsi:type="dcterms:W3CDTF">2026-03-09T00:39:42Z</dcterms:modified>
</cp:coreProperties>
</file>